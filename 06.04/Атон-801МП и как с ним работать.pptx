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6" r:id="rId11"/>
    <p:sldId id="267" r:id="rId12"/>
    <p:sldId id="265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7CDC0-1BC8-4B27-904A-90978FAB3B39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CC09E-F3F5-4E50-B9C7-DF7D5690A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8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990BD-1804-B04B-D241-39D7D95A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F5A1D4-9B02-E93D-09A0-98B694661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D525BB-761A-BF0D-8BDB-B098DD3B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F8CA-94EC-41C4-AA7E-F073880A29C5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F8291D-5D4F-82D3-722C-A782E4C7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5AAE6-A21F-AED3-36E8-5781EFFD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93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4902C-0571-9B60-3CBC-5C9F411A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451550-9789-95B8-7260-55C179E2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AEFB0E-94CD-E737-52C7-6F9B36B61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EBC5-A7C1-4B27-A7C1-03E7F03AC239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B92464-1D1D-A85A-2EFD-DBAF3AE2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FF153C-B4D8-D099-4B71-71E0DE29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7A553-BB44-BBC6-2DFE-1B73F355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543C3B-8A01-DDF3-A678-A96B615F7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0C9262-656D-3BA8-E465-6CD15EA2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885BE-E387-457B-883B-B3F83CFBAC7E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A16BB3-224B-25F1-86D9-9B544026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1640E5-4487-ACBC-76F0-C42520DB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39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C694B-123F-5994-242E-E3F5BA3F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5CE529-1C62-9072-DA74-B04A9E56F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CCE324-0C41-CA8A-9297-6DEA72C7A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843182-462D-AE21-D752-4100A38D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F59D2-5DC3-4AE4-80AE-513FBD72FB56}" type="datetime1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9EB3AF-3524-CABE-F42B-D23B1DC4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282270-2EA3-7202-4A2B-24DC5FA8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11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FD579-418C-BF3A-42A0-5C7D8F16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CE132E-2431-E7EA-C612-D6B4A6F02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9E7572-E32A-BD11-871E-4BE006939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6CCCD-0C2A-FBC2-BC25-97C2FDE27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FF08BE-1F9A-A8C5-D975-3EE7310E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086FA9-E3C4-FA50-9477-152BC53E8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54F3-F2F7-47DB-885F-F55A6A3FB37C}" type="datetime1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FD3A9C-4976-2D3B-5C00-0D5730B2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59BE28-98AD-953D-DAF3-1D2AE25D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96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EB5414-8D18-5FB2-5195-33135D74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4FDBAA3-F5CE-8894-367C-08D9B78B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A3C-14C3-46B4-8882-5EF9CA7F622E}" type="datetime1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BCF99C-2DC8-658B-F1DC-D9255255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C313A4-2B37-C81F-DA56-306959BB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90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7B28B31-B19C-899B-F502-5A7C85F6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E3C98-1923-454B-A564-C11F17C45A18}" type="datetime1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BA7628-BC64-928A-5D2C-478AADC1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C8A7D1-DCC5-80CB-609E-1FCA999E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20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772E7-C4FA-D1FC-52AF-57EBD4C5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91EAB7-E86C-32E2-ED83-5430316C6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CD5A03-C0CE-4009-35C4-F50E77D68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8D06D1-B368-D8D7-2601-3C3E84BD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3C2F-744E-43BA-86C2-AEA92EC5F18E}" type="datetime1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8C2302-3A42-DA94-9165-A101B4F9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8B658A-1515-30F8-EB19-37BABF5A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53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BBD63-88E4-56B0-959D-923ACB09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21B0BE-840C-2254-DF30-437EC5002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385B4E-E529-FE68-143B-B80237783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F1880A-9AFA-A78A-3E4E-3DEB03E4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FAD8-2686-4A09-9BDA-A590F4517FF9}" type="datetime1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8475AB-C5E7-296C-3DA8-D073A2BF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333F72-D9D6-9EE2-BDB7-322E2214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78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75132-F4DE-AE50-2721-72DFF5F7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EE3AC7-E55D-E9D9-0BB9-058917BD3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16C50F-C6BB-DE8F-E9D7-82412A55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FE9B-28F8-406A-A1F7-DF8E240344CD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0D099-0823-7F76-C59F-75E72ABD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6F1E75-932B-7D37-828E-56C5D478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74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328325-E872-78E6-5AD0-6CFAC0F26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43E302-5274-B29E-78EF-80C43DC4F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C5B674-CB14-3202-AE35-29495F04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1201-4A6D-4157-A7DB-DD1DD2EEDC5A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3164A-6F8D-A742-6B69-40A8A2DB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F571A-4324-0849-FFB0-B8744A22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42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01399-1E63-85A6-86FB-EAD26329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9F08ED-EF42-D260-C44D-F28CDC9E2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645607-BACE-A694-BEC5-DABF02959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32B68-36C9-4705-9CAF-BC27B841A396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2EC5D-A93B-2CD2-77FB-B002E3B2A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735387-3A32-32AE-1DC7-7CE774094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227FE-2A2C-4B7A-A02C-D79D2F1AF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39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/>
          </a:p>
        </p:txBody>
      </p:sp>
      <p:pic>
        <p:nvPicPr>
          <p:cNvPr id="1028" name="Picture 4" descr="АТОН-801МП анализатор жидкости многоканальный (АТОН 801МП). Описание. Цена.  Заказ. | TD-ANION.RU">
            <a:extLst>
              <a:ext uri="{FF2B5EF4-FFF2-40B4-BE49-F238E27FC236}">
                <a16:creationId xmlns:a16="http://schemas.microsoft.com/office/drawing/2014/main" id="{59ED338A-CE3F-A56C-2573-D23AD364E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86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68269-A32D-8675-84A7-CB80D9CD9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ru-RU" sz="2800" noProof="0" dirty="0">
                <a:latin typeface="Arial Black" panose="020B0A04020102020204" pitchFamily="34" charset="0"/>
              </a:rPr>
              <a:t>Атон-801МП и как с ним работать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0CDA7E-AE51-7596-AFB4-A5CAD6CD4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1700" noProof="0" dirty="0">
                <a:latin typeface="Arial" panose="020B0604020202020204" pitchFamily="34" charset="0"/>
                <a:cs typeface="Arial" panose="020B0604020202020204" pitchFamily="34" charset="0"/>
              </a:rPr>
              <a:t>Подготовили студенты группы М25-Ш04: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ru-RU" sz="1700" noProof="0" dirty="0">
                <a:latin typeface="Arial" panose="020B0604020202020204" pitchFamily="34" charset="0"/>
                <a:cs typeface="Arial" panose="020B0604020202020204" pitchFamily="34" charset="0"/>
              </a:rPr>
              <a:t>Московцев Алексей Анатольевич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ru-RU" sz="1700" noProof="0" dirty="0">
                <a:latin typeface="Arial" panose="020B0604020202020204" pitchFamily="34" charset="0"/>
                <a:cs typeface="Arial" panose="020B0604020202020204" pitchFamily="34" charset="0"/>
              </a:rPr>
              <a:t>Забродин Максим Дмитриевич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ru-RU" sz="1700" noProof="0" dirty="0">
                <a:latin typeface="Arial" panose="020B0604020202020204" pitchFamily="34" charset="0"/>
                <a:cs typeface="Arial" panose="020B0604020202020204" pitchFamily="34" charset="0"/>
              </a:rPr>
              <a:t>Коломиец Максим Андреевич</a:t>
            </a:r>
          </a:p>
        </p:txBody>
      </p:sp>
    </p:spTree>
    <p:extLst>
      <p:ext uri="{BB962C8B-B14F-4D97-AF65-F5344CB8AC3E}">
        <p14:creationId xmlns:p14="http://schemas.microsoft.com/office/powerpoint/2010/main" val="352881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50FA0-DF90-BEEE-B094-D5F39AAC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Назначение и область применения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D8B5D9-AA0A-FCC2-93ED-5D0E4C6F0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Основное назначение: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непрерывный анализ жидких сред потенциометрическим, амперометрическим и кондуктометрическим методами.</a:t>
            </a:r>
          </a:p>
          <a:p>
            <a:pPr marL="0" indent="0">
              <a:buNone/>
            </a:pPr>
            <a:r>
              <a:rPr lang="ru-RU" b="1" dirty="0"/>
              <a:t>Где применяется:</a:t>
            </a:r>
            <a:endParaRPr lang="ru-RU" dirty="0"/>
          </a:p>
          <a:p>
            <a:pPr lvl="1"/>
            <a:r>
              <a:rPr lang="ru-RU" dirty="0"/>
              <a:t>Атомные и тепловые электростанции (контроль теплоносителя)</a:t>
            </a:r>
          </a:p>
          <a:p>
            <a:pPr lvl="1"/>
            <a:r>
              <a:rPr lang="ru-RU" dirty="0"/>
              <a:t>Станции теплоснабжения</a:t>
            </a:r>
          </a:p>
          <a:p>
            <a:pPr lvl="1"/>
            <a:r>
              <a:rPr lang="ru-RU" dirty="0"/>
              <a:t>Металлургическая, пищевая и другие отрасли промышленности</a:t>
            </a:r>
          </a:p>
          <a:p>
            <a:pPr marL="0" indent="0">
              <a:buNone/>
            </a:pPr>
            <a:r>
              <a:rPr lang="ru-RU" b="1" dirty="0"/>
              <a:t>Режим работы:</a:t>
            </a:r>
            <a:r>
              <a:rPr lang="ru-RU" dirty="0"/>
              <a:t> постоянный мониторинг водно-химических процессов.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C1A649-045B-8A06-0479-1ACA1257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84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F895-FE20-E88A-5329-69996612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7A2AE-7003-49ED-B722-5086C8BF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Какие параметры измеряет Атон-801МП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F219FC-6822-4720-10E6-D57654CF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3</a:t>
            </a:fld>
            <a:endParaRPr lang="ru-RU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783C77F-3D21-7641-8FB6-375BD9218E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436665"/>
              </p:ext>
            </p:extLst>
          </p:nvPr>
        </p:nvGraphicFramePr>
        <p:xfrm>
          <a:off x="838200" y="1825624"/>
          <a:ext cx="10515600" cy="43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6333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86592023"/>
                    </a:ext>
                  </a:extLst>
                </a:gridCol>
              </a:tblGrid>
              <a:tr h="54713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Диапазон измерения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03292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1 до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92371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Удельная электропроводимость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1·10⁻⁵ до 1·10³ 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мкСм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/см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282042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Концентрация ионов натрия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0,7 мкг/дм³ до 100 мг/дм³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10564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Растворенный кислород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0,003 до 20 мкг/дм³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12468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Растворенный водород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0,003 до 2 мкг/дм³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39249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Температура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0 до 100 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532226"/>
                  </a:ext>
                </a:extLst>
              </a:tr>
              <a:tr h="547132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ЭДС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 -1800 до +1800 мВ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43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74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585D-1889-AA6C-F6D0-2C841AEC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D0813-8950-2A25-D0CB-B2D52C32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Устройство и принцип работы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BFC615-2864-3694-7E1A-DF47429E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Конструкция анализатора: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Измерительный преобразователь (ИП)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= блок контроллера + выносные модули.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Блоки датчиков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(подключаются к ИП линиями связи).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каждом блоке датчика — первичный преобразователь (pH, УЭП, Na, O₂, H₂) и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встроенный датчик температуры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для автокомпенсации.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Принцип действия: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Датчики измеряют электрические сигналы (потенциометрические, амперометрические, кондуктометрические).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Сигналы преобразуются в цифровую форму.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Микропроцессорный контроллер обрабатывает данные и выводит на экран в единицах измеряемой величины.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F8850C-7742-4B83-8BD0-819E9464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62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3B47-57CA-A269-EE48-420D17C7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F9081-E970-2FA1-14EE-3E2181E0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Состав анализатора и комплектация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6FD690-AB5C-2FB5-8568-E8FB6D50C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Стандартная комплектация: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Измерительный преобразователь (контроллер)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Блоки датчиков (тип и количество — по заказу)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Комплект ЗИП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Формуляр и руководство по эксплуатации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Индикация и управление: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Светодиодный (СД) и жидкокристаллический (ЖК) индикаторы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Пленочная клавиатура для настройки режимов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Выходные сигналы: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аналоговые, дискретные, цифровые (для передачи в систему верхнего уровня).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2791BB-A7A4-9658-84F1-BB246A97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43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C86F-0AC3-32EC-3CF8-74628E27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73555-3B1F-4662-18D1-EB93BE1E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Типы датчиков и их исполнение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98A73D-6A5B-E67E-135B-09726B732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Датчик УЭП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– 11 исполнений с разными диапазонами (от 0–500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мкСм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/см до 0–1000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мСм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/см).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Блоки датчиков по параметрам: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pH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и натрия — проточные, с расходом 3–100 л/ч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Кислород / водород — проточные, расход 3–30 / 3–50 л/ч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УЭП — проточное или погружное исполнение, расход до 100 л/ч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Важно: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гидравлическая схема блока датчиков обеспечивает стабилизацию расхода и сброс в дренаж.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007A75-456E-E90B-FFF6-8A6DA4CD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13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0545-84A5-36C9-983E-031E5552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29605-962A-8987-6D9D-CF1C4843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Основные технические характеристики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ACB24E-B25F-119F-EF76-02953CD9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E363785-FB70-3F0C-2526-A54073831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238883"/>
              </p:ext>
            </p:extLst>
          </p:nvPr>
        </p:nvGraphicFramePr>
        <p:xfrm>
          <a:off x="838200" y="1825624"/>
          <a:ext cx="10515600" cy="4412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876333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865920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034546"/>
                    </a:ext>
                  </a:extLst>
                </a:gridCol>
              </a:tblGrid>
              <a:tr h="7151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Блок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Габариты, мм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Масса, кг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03292"/>
                  </a:ext>
                </a:extLst>
              </a:tr>
              <a:tr h="715186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Контроллер настенный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250×289×143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92371"/>
                  </a:ext>
                </a:extLst>
              </a:tr>
              <a:tr h="715186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Датчик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 / 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600×330×130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282042"/>
                  </a:ext>
                </a:extLst>
              </a:tr>
              <a:tr h="715186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Датчик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O₂ / H₂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450×150×85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10564"/>
                  </a:ext>
                </a:extLst>
              </a:tr>
              <a:tr h="715186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Датчик УЭП проточный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350×140×80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12468"/>
                  </a:ext>
                </a:extLst>
              </a:tr>
              <a:tr h="836684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Датчик УЭП с H-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катионитным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фильтром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560×280×130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39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65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CE10-8034-EE9E-44F5-FDED80C1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7B129-1DF9-88F8-B0DD-360788EE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Условия эксплуатации и требования к среде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CA262A-4599-EEA6-F64C-55727679C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Температура анализируемой среды:</a:t>
            </a:r>
            <a:r>
              <a:rPr lang="ru-RU" dirty="0"/>
              <a:t> от +5 до +95 °C (зависит от датчика)</a:t>
            </a:r>
          </a:p>
          <a:p>
            <a:pPr marL="0" indent="0">
              <a:buNone/>
            </a:pPr>
            <a:r>
              <a:rPr lang="ru-RU" b="1" dirty="0"/>
              <a:t>Для датчиков pH, натрия, O₂, H₂:</a:t>
            </a:r>
            <a:r>
              <a:rPr lang="ru-RU" dirty="0"/>
              <a:t> температура от +10 до +50 °C</a:t>
            </a:r>
          </a:p>
          <a:p>
            <a:pPr marL="0" indent="0">
              <a:buNone/>
            </a:pPr>
            <a:r>
              <a:rPr lang="ru-RU" b="1" dirty="0"/>
              <a:t>Расход через датчики:</a:t>
            </a:r>
            <a:r>
              <a:rPr lang="ru-RU" dirty="0"/>
              <a:t> от 3 до 100 л/ч (в зависимости от типа)</a:t>
            </a:r>
          </a:p>
          <a:p>
            <a:pPr marL="0" indent="0">
              <a:buNone/>
            </a:pPr>
            <a:r>
              <a:rPr lang="ru-RU" dirty="0"/>
              <a:t>Прибор рассчитан на агрессивные среды (коррозионно-стойкие исполнения датчиков УЭП)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0766C9-E036-8B3A-3FFD-93EF32FE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84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DA41-915F-BC57-5914-E3F024B7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A994E-A426-16DC-7F1E-FFD2CC2E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Порядок работы с анализатором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0632-8A15-CD83-3FFC-1EEAA3BA6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Подготовка:</a:t>
            </a:r>
            <a:endParaRPr lang="ru-RU" dirty="0"/>
          </a:p>
          <a:p>
            <a:pPr lvl="1"/>
            <a:r>
              <a:rPr lang="ru-RU" dirty="0"/>
              <a:t>Смонтировать блоки датчиков в соответствии с гидравлической схемой.</a:t>
            </a:r>
          </a:p>
          <a:p>
            <a:pPr lvl="1"/>
            <a:r>
              <a:rPr lang="ru-RU" dirty="0"/>
              <a:t>Подключить датчики к измерительному преобразователю.</a:t>
            </a:r>
          </a:p>
          <a:p>
            <a:pPr lvl="1"/>
            <a:r>
              <a:rPr lang="ru-RU" dirty="0"/>
              <a:t>Подать питание.</a:t>
            </a:r>
          </a:p>
          <a:p>
            <a:r>
              <a:rPr lang="ru-RU" b="1" dirty="0"/>
              <a:t>Настройка:</a:t>
            </a:r>
            <a:endParaRPr lang="ru-RU" dirty="0"/>
          </a:p>
          <a:p>
            <a:pPr lvl="1"/>
            <a:r>
              <a:rPr lang="ru-RU" dirty="0"/>
              <a:t>С помощью клавиатуры выбрать измеряемые параметры.</a:t>
            </a:r>
          </a:p>
          <a:p>
            <a:pPr lvl="1"/>
            <a:r>
              <a:rPr lang="ru-RU" dirty="0"/>
              <a:t>Установить диапазоны и единицы измерения.</a:t>
            </a:r>
          </a:p>
          <a:p>
            <a:pPr lvl="1"/>
            <a:r>
              <a:rPr lang="ru-RU" dirty="0"/>
              <a:t>При необходимости — настроить выходные сигналы.</a:t>
            </a:r>
          </a:p>
          <a:p>
            <a:r>
              <a:rPr lang="ru-RU" b="1" dirty="0"/>
              <a:t>Измерение:</a:t>
            </a:r>
            <a:endParaRPr lang="ru-RU" dirty="0"/>
          </a:p>
          <a:p>
            <a:pPr lvl="1"/>
            <a:r>
              <a:rPr lang="ru-RU" dirty="0"/>
              <a:t>Запустить поток анализируемой среды.</a:t>
            </a:r>
          </a:p>
          <a:p>
            <a:pPr lvl="1"/>
            <a:r>
              <a:rPr lang="ru-RU" dirty="0"/>
              <a:t>Контролировать показания на ЖК/СД индикаторах.</a:t>
            </a:r>
          </a:p>
          <a:p>
            <a:r>
              <a:rPr lang="ru-RU" b="1" dirty="0"/>
              <a:t>Завершение и обслуживание:</a:t>
            </a:r>
            <a:endParaRPr lang="ru-RU" dirty="0"/>
          </a:p>
          <a:p>
            <a:pPr lvl="1"/>
            <a:r>
              <a:rPr lang="ru-RU" dirty="0"/>
              <a:t>Периодически проверять состояние датчиков (калибровка, очистка).</a:t>
            </a:r>
          </a:p>
          <a:p>
            <a:pPr lvl="1"/>
            <a:r>
              <a:rPr lang="ru-RU" dirty="0"/>
              <a:t>При длительной остановке — консервировать датчики согласно РЭ.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663AD4-293D-161F-71BF-5D8F4FDFC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49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DB1F-7FAE-523D-F912-996F0F5D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ED0C8-EF82-8D5E-352E-745089D6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Схема подключения и состав системы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D5B1B5-C5A7-BF88-4747-C011D1E7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10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C3FC1E-34CB-473D-6FED-51DF73369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33" y="1635612"/>
            <a:ext cx="8019733" cy="47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2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951B-190B-FEF4-9F36-EB44C188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149A2-B897-A0AA-4EDE-1EC06CA5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4721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Примеры расшифровки показаний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DB320E-456D-9732-937F-4E638CE8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BE844BC2-EB9F-5BA8-4561-FBBE20D94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9515928"/>
              </p:ext>
            </p:extLst>
          </p:nvPr>
        </p:nvGraphicFramePr>
        <p:xfrm>
          <a:off x="243840" y="934721"/>
          <a:ext cx="117652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067">
                  <a:extLst>
                    <a:ext uri="{9D8B030D-6E8A-4147-A177-3AD203B41FA5}">
                      <a16:colId xmlns:a16="http://schemas.microsoft.com/office/drawing/2014/main" val="87633323"/>
                    </a:ext>
                  </a:extLst>
                </a:gridCol>
                <a:gridCol w="1630003">
                  <a:extLst>
                    <a:ext uri="{9D8B030D-6E8A-4147-A177-3AD203B41FA5}">
                      <a16:colId xmlns:a16="http://schemas.microsoft.com/office/drawing/2014/main" val="1486592023"/>
                    </a:ext>
                  </a:extLst>
                </a:gridCol>
                <a:gridCol w="5678890">
                  <a:extLst>
                    <a:ext uri="{9D8B030D-6E8A-4147-A177-3AD203B41FA5}">
                      <a16:colId xmlns:a16="http://schemas.microsoft.com/office/drawing/2014/main" val="242034546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773841032"/>
                    </a:ext>
                  </a:extLst>
                </a:gridCol>
              </a:tblGrid>
              <a:tr h="547814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Параметр</a:t>
                      </a:r>
                      <a:endParaRPr lang="ru-RU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Пример показания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Расшифровка и норма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Возможные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03292"/>
                  </a:ext>
                </a:extLst>
              </a:tr>
              <a:tr h="547814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Слабокислая среда. Норма для питательной воды котлов: 8.5–9.5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Проверить дозирование аммиака или щелочи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92371"/>
                  </a:ext>
                </a:extLst>
              </a:tr>
              <a:tr h="782591"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УЭП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 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мкСм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/см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Очень низкая проводимость (глубокая обессоленная вода). Норма для конденсата: &lt; 0.5 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мкСм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/см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норме. Контролировать стабильность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282042"/>
                  </a:ext>
                </a:extLst>
              </a:tr>
              <a:tr h="547814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Na⁺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 мкг/дм³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Повышенное содержание натрия. Норма: &lt; 0.5 мкг/дм³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Проверить работу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H-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катионитовых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фильтров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10564"/>
                  </a:ext>
                </a:extLst>
              </a:tr>
              <a:tr h="547814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O₂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мкг/дм³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Превышение нормы. Норма для 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деаэрированной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воды: &lt; 10 мкг/дм³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Проверить работу деаэратора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12468"/>
                  </a:ext>
                </a:extLst>
              </a:tr>
              <a:tr h="531725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H₂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 мкг/дм³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норме (допустимо до 2 мкг/дм³)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Контроль коррозионных процессов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39249"/>
                  </a:ext>
                </a:extLst>
              </a:tr>
              <a:tr h="547814">
                <a:tc>
                  <a:txBody>
                    <a:bodyPr/>
                    <a:lstStyle/>
                    <a:p>
                      <a:r>
                        <a:rPr lang="ru-RU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Температура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 °C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Соответствует рабочему диапазону датчиков (pH/Na: 10–50 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норме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087354"/>
                  </a:ext>
                </a:extLst>
              </a:tr>
              <a:tr h="610057">
                <a:tc>
                  <a:txBody>
                    <a:bodyPr/>
                    <a:lstStyle/>
                    <a:p>
                      <a:r>
                        <a:rPr lang="ru-RU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ОВП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+200 мВ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Окислительная среда. Для </a:t>
                      </a:r>
                      <a:r>
                        <a:rPr lang="ru-R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деаэрированной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воды нормой является отрицательный потенциал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Возможен подсос воздуха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66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75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D989-A506-6A9A-9AED-D4F595780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1CA7F-6D3B-FC46-6C44-5FEDA87BB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Важные пояснения к расшифровке показаний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ED6B29-D551-FC60-038E-276351EF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Автоматическая температурная компенсация</a:t>
            </a:r>
            <a:r>
              <a:rPr lang="ru-RU" dirty="0"/>
              <a:t> — все показания приводятся к стандартной температуре (обычно 25°C) </a:t>
            </a:r>
          </a:p>
          <a:p>
            <a:r>
              <a:rPr lang="ru-RU" b="1" dirty="0"/>
              <a:t>Пересчёт УЭП в концентрацию солей</a:t>
            </a:r>
            <a:r>
              <a:rPr lang="ru-RU" dirty="0"/>
              <a:t> — прибор может автоматически пересчитывать удельную электропроводность в массовую концентрацию растворённых веществ (в процентах) </a:t>
            </a:r>
          </a:p>
          <a:p>
            <a:r>
              <a:rPr lang="ru-RU" b="1" dirty="0"/>
              <a:t>Пороговые значения (уставки)</a:t>
            </a:r>
            <a:r>
              <a:rPr lang="ru-RU" dirty="0"/>
              <a:t> — анализатор сигнализирует при выходе параметров за заданные пределы через релейные выходы </a:t>
            </a:r>
          </a:p>
          <a:p>
            <a:r>
              <a:rPr lang="ru-RU" b="1" dirty="0"/>
              <a:t>Документирование</a:t>
            </a:r>
            <a:r>
              <a:rPr lang="ru-RU" dirty="0"/>
              <a:t> — все результаты сохраняются в памяти прибора и могут быть переданы в АСУ ТП через RS-485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5DC309-22C3-A127-464D-38BFD94E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585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8DAC-E80C-FBDA-6510-8AE36CBF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22E96-AE38-7503-5F09-5A9E3CCA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Arial Black" panose="020B0A04020102020204" pitchFamily="34" charset="0"/>
              </a:rPr>
              <a:t>Преимущества и особенности Атон-801МП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89D6E-920A-F3B8-DA30-58F0E2A27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 err="1"/>
              <a:t>Многопараметровость</a:t>
            </a:r>
            <a:r>
              <a:rPr lang="ru-RU" dirty="0"/>
              <a:t> – один прибор заменяет несколько узкоспециализированных.</a:t>
            </a:r>
          </a:p>
          <a:p>
            <a:pPr marL="0" indent="0">
              <a:buNone/>
            </a:pPr>
            <a:r>
              <a:rPr lang="ru-RU" b="1" dirty="0"/>
              <a:t>Многоканальность</a:t>
            </a:r>
            <a:r>
              <a:rPr lang="ru-RU" dirty="0"/>
              <a:t> – одновременный контроль разных точек или параметров.</a:t>
            </a:r>
          </a:p>
          <a:p>
            <a:pPr marL="0" indent="0">
              <a:buNone/>
            </a:pPr>
            <a:r>
              <a:rPr lang="ru-RU" b="1" dirty="0"/>
              <a:t>Автоматическая температурная компенсация</a:t>
            </a:r>
            <a:r>
              <a:rPr lang="ru-RU" dirty="0"/>
              <a:t> по всем каналам.</a:t>
            </a:r>
          </a:p>
          <a:p>
            <a:pPr marL="0" indent="0">
              <a:buNone/>
            </a:pPr>
            <a:r>
              <a:rPr lang="ru-RU" b="1" dirty="0"/>
              <a:t>Микропроцессорное управление</a:t>
            </a:r>
            <a:r>
              <a:rPr lang="ru-RU" dirty="0"/>
              <a:t> и цифровая обработка сигналов.</a:t>
            </a:r>
          </a:p>
          <a:p>
            <a:pPr marL="0" indent="0">
              <a:buNone/>
            </a:pPr>
            <a:r>
              <a:rPr lang="ru-RU" b="1" dirty="0"/>
              <a:t>Различные исполнения датчиков</a:t>
            </a:r>
            <a:r>
              <a:rPr lang="ru-RU" dirty="0"/>
              <a:t> (проточные, погружные, коррозионностойкие).</a:t>
            </a:r>
          </a:p>
          <a:p>
            <a:pPr marL="0" indent="0">
              <a:buNone/>
            </a:pPr>
            <a:r>
              <a:rPr lang="ru-RU" b="1" dirty="0"/>
              <a:t>Интеграция в АСУ ТП</a:t>
            </a:r>
            <a:r>
              <a:rPr lang="ru-RU" dirty="0"/>
              <a:t> (аналоговые, дискретные, цифровые выходы).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831E11-4BFC-0C8C-A950-4E4C3D01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27FE-2A2C-4B7A-A02C-D79D2F1AFD2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1847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870</Words>
  <Application>Microsoft Office PowerPoint</Application>
  <PresentationFormat>Широкоэкранный</PresentationFormat>
  <Paragraphs>152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Calibri</vt:lpstr>
      <vt:lpstr>Тема Office</vt:lpstr>
      <vt:lpstr>Атон-801МП и как с ним работать</vt:lpstr>
      <vt:lpstr>Назначение и область применения</vt:lpstr>
      <vt:lpstr>Какие параметры измеряет Атон-801МП</vt:lpstr>
      <vt:lpstr>Устройство и принцип работы</vt:lpstr>
      <vt:lpstr>Состав анализатора и комплектация</vt:lpstr>
      <vt:lpstr>Типы датчиков и их исполнение</vt:lpstr>
      <vt:lpstr>Основные технические характеристики</vt:lpstr>
      <vt:lpstr>Условия эксплуатации и требования к среде</vt:lpstr>
      <vt:lpstr>Порядок работы с анализатором</vt:lpstr>
      <vt:lpstr>Схема подключения и состав системы</vt:lpstr>
      <vt:lpstr>Примеры расшифровки показаний</vt:lpstr>
      <vt:lpstr>Важные пояснения к расшифровке показаний</vt:lpstr>
      <vt:lpstr>Преимущества и особенности Атон-801МП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Московцев</dc:creator>
  <cp:lastModifiedBy>Алексей Московцев</cp:lastModifiedBy>
  <cp:revision>1</cp:revision>
  <dcterms:created xsi:type="dcterms:W3CDTF">2026-04-06T11:42:32Z</dcterms:created>
  <dcterms:modified xsi:type="dcterms:W3CDTF">2026-04-06T12:31:54Z</dcterms:modified>
</cp:coreProperties>
</file>